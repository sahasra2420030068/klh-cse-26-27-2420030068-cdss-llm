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1" r:id="rId6"/>
    <p:sldId id="265" r:id="rId7"/>
    <p:sldId id="267" r:id="rId8"/>
    <p:sldId id="266" r:id="rId9"/>
    <p:sldId id="260" r:id="rId10"/>
    <p:sldId id="262" r:id="rId11"/>
    <p:sldId id="259" r:id="rId12"/>
    <p:sldId id="269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10800000" flipV="1">
            <a:off x="2839616" y="3984171"/>
            <a:ext cx="6512767" cy="925366"/>
          </a:xfrm>
        </p:spPr>
        <p:txBody>
          <a:bodyPr/>
          <a:lstStyle/>
          <a:p>
            <a:pPr algn="ctr"/>
            <a:r>
              <a:rPr sz="2400" b="1">
                <a:solidFill>
                  <a:srgbClr val="C00000"/>
                </a:solidFill>
                <a:latin typeface="Times New Roman"/>
              </a:rPr>
              <a:t>Applied Machine Learning for Text Analysis</a:t>
            </a:r>
            <a:endParaRPr lang="en-US" sz="2000" b="1" dirty="0">
              <a:solidFill>
                <a:srgbClr val="C00000"/>
              </a:solidFill>
              <a:latin typeface="+mn-lt"/>
            </a:endParaRPr>
          </a:p>
          <a:p>
            <a:pPr algn="ctr"/>
            <a:r>
              <a:rPr sz="2000" b="1">
                <a:solidFill>
                  <a:srgbClr val="C00000"/>
                </a:solidFill>
                <a:latin typeface="Times New Roman"/>
              </a:rPr>
              <a:t>(24ALT3101)</a:t>
            </a:r>
          </a:p>
          <a:p>
            <a:pPr algn="ctr"/>
          </a:p>
          <a:p>
            <a:pPr algn="ctr"/>
            <a:r>
              <a:rPr sz="2300" b="0">
                <a:latin typeface="Times New Roman"/>
              </a:rPr>
              <a:t>Large Language Model-Based Clinical Decision Support System</a:t>
            </a:r>
          </a:p>
          <a:p>
            <a:pPr algn="ctr"/>
          </a:p>
          <a:p>
            <a:pPr algn="ctr"/>
            <a:r>
              <a:rPr sz="1600">
                <a:latin typeface="Times New Roman"/>
              </a:rPr>
              <a:t>Submitted by:</a:t>
            </a:r>
          </a:p>
          <a:p>
            <a:pPr algn="ctr"/>
            <a:r>
              <a:rPr sz="1600">
                <a:latin typeface="Times New Roman"/>
              </a:rPr>
              <a:t>sahasra-2420030068</a:t>
            </a:r>
          </a:p>
          <a:p>
            <a:pPr algn="ctr"/>
            <a:r>
              <a:rPr sz="1600">
                <a:latin typeface="Times New Roman"/>
              </a:rPr>
              <a:t>deekshitha-2420030047</a:t>
            </a:r>
          </a:p>
          <a:p>
            <a:pPr algn="ctr"/>
            <a:r>
              <a:rPr sz="1600">
                <a:latin typeface="Times New Roman"/>
              </a:rPr>
              <a:t/>
            </a:r>
          </a:p>
          <a:p>
            <a:pPr algn="ctr"/>
          </a:p>
          <a:p>
            <a:pPr algn="ctr"/>
            <a:r>
              <a:rPr sz="1600">
                <a:latin typeface="Times New Roman"/>
              </a:rPr>
              <a:t>Group Number: 1        Section: 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90241" y="3984171"/>
            <a:ext cx="4551284" cy="309547"/>
          </a:xfrm>
        </p:spPr>
        <p:txBody>
          <a:bodyPr wrap="square"/>
          <a:lstStyle/>
          <a:p>
            <a:pPr marL="171450" algn="ctr">
              <a:lnSpc>
                <a:spcPct val="107000"/>
              </a:lnSpc>
              <a:spcAft>
                <a:spcPts val="800"/>
              </a:spcAft>
              <a:defRPr sz="1600" b="1">
                <a:latin typeface="Times New Roman"/>
              </a:defRPr>
            </a:pPr>
            <a:r>
              <a:t>Under the Guidance of:</a:t>
            </a:r>
            <a:endParaRPr lang="en-US" sz="18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algn="ctr">
              <a:defRPr sz="1600">
                <a:latin typeface="Times New Roman"/>
              </a:defRPr>
            </a:pPr>
            <a:r>
              <a:t>Mrs.Swanthana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036313" y="1235656"/>
            <a:ext cx="4484160" cy="5325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700">
                <a:latin typeface="Times New Roman"/>
              </a:defRPr>
            </a:pPr>
            <a:r>
              <a:t>Abstract</a:t>
            </a:r>
          </a:p>
          <a:p>
            <a:pPr>
              <a:defRPr sz="1700">
                <a:latin typeface="Times New Roman"/>
              </a:defRPr>
            </a:pPr>
            <a:r>
              <a:t>Problem Statement</a:t>
            </a:r>
          </a:p>
          <a:p>
            <a:pPr>
              <a:defRPr sz="1700">
                <a:latin typeface="Times New Roman"/>
              </a:defRPr>
            </a:pPr>
            <a:r>
              <a:t>Objectives</a:t>
            </a:r>
          </a:p>
          <a:p>
            <a:pPr>
              <a:defRPr sz="1700">
                <a:latin typeface="Times New Roman"/>
              </a:defRPr>
            </a:pPr>
            <a:r>
              <a:t>Literature Survey</a:t>
            </a:r>
          </a:p>
          <a:p>
            <a:pPr>
              <a:defRPr sz="1700">
                <a:latin typeface="Times New Roman"/>
              </a:defRPr>
            </a:pPr>
            <a:r>
              <a:t>Research Gap Identification</a:t>
            </a:r>
          </a:p>
          <a:p>
            <a:pPr>
              <a:defRPr sz="1700">
                <a:latin typeface="Times New Roman"/>
              </a:defRPr>
            </a:pPr>
            <a:r>
              <a:t>Innovation</a:t>
            </a:r>
          </a:p>
          <a:p>
            <a:pPr>
              <a:defRPr sz="1700">
                <a:latin typeface="Times New Roman"/>
              </a:defRPr>
            </a:pPr>
            <a:r>
              <a:t>Creativity</a:t>
            </a:r>
          </a:p>
          <a:p>
            <a:pPr>
              <a:defRPr sz="1700">
                <a:latin typeface="Times New Roman"/>
              </a:defRPr>
            </a:pPr>
            <a:r>
              <a:t>Novelty</a:t>
            </a:r>
          </a:p>
          <a:p>
            <a:pPr>
              <a:defRPr sz="1700">
                <a:latin typeface="Times New Roman"/>
              </a:defRPr>
            </a:pPr>
            <a:r>
              <a:t>Feasibility</a:t>
            </a:r>
          </a:p>
          <a:p>
            <a:pPr>
              <a:defRPr sz="1700">
                <a:latin typeface="Times New Roman"/>
              </a:defRPr>
            </a:pPr>
            <a:r>
              <a:t>Flowchart</a:t>
            </a:r>
          </a:p>
          <a:p>
            <a:pPr>
              <a:defRPr sz="1700">
                <a:latin typeface="Times New Roman"/>
              </a:defRPr>
            </a:pPr>
            <a:r>
              <a:t>Project Plan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400" b="1">
                <a:latin typeface="Times New Roman"/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3200" b="1">
                <a:latin typeface="Times New Roman"/>
              </a:rPr>
              <a:t>Abstract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078A58-6A66-8B6F-D0CB-F6E7C730B66C}"/>
              </a:ext>
            </a:extLst>
          </p:cNvPr>
          <p:cNvSpPr txBox="1"/>
          <p:nvPr/>
        </p:nvSpPr>
        <p:spPr>
          <a:xfrm>
            <a:off x="602183" y="1646853"/>
            <a:ext cx="11254153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  <a:defRPr sz="1600">
                <a:latin typeface="Times New Roman"/>
              </a:defRPr>
            </a:pPr>
            <a:r>
              <a:t>Clinical decision-making often requires healthcare professionals to interpret large amounts of patient information, clinical guidelines, laboratory results, and medical literature.</a:t>
            </a:r>
          </a:p>
          <a:p>
            <a:pPr>
              <a:defRPr sz="1600">
                <a:latin typeface="Times New Roman"/>
              </a:defRPr>
            </a:pPr>
          </a:p>
          <a:p>
            <a:pPr>
              <a:defRPr sz="1600">
                <a:latin typeface="Times New Roman"/>
              </a:defRPr>
            </a:pPr>
            <a:r>
              <a:t>This project proposes a Large Language Model-Based Clinical Decision Support System (LLM-CDSS) that assists clinicians by summarizing patient information, identifying relevant clinical factors, and generating evidence-aware decision support suggestions.</a:t>
            </a:r>
          </a:p>
          <a:p>
            <a:pPr>
              <a:defRPr sz="1600">
                <a:latin typeface="Times New Roman"/>
              </a:defRPr>
            </a:pPr>
          </a:p>
          <a:p>
            <a:pPr>
              <a:defRPr sz="1600">
                <a:latin typeface="Times New Roman"/>
              </a:defRPr>
            </a:pPr>
            <a:r>
              <a:t>The system combines an LLM with a clinical knowledge base and retrieval mechanism to provide contextual recommendations, explanations, and supporting evidence while keeping the clinician in the decision loop.</a:t>
            </a:r>
          </a:p>
          <a:p>
            <a:pPr>
              <a:defRPr sz="1600">
                <a:latin typeface="Times New Roman"/>
              </a:defRPr>
            </a:pPr>
          </a:p>
          <a:p>
            <a:pPr>
              <a:defRPr sz="1600">
                <a:latin typeface="Times New Roman"/>
              </a:defRPr>
            </a:pPr>
            <a:r>
              <a:t>The proposed platform is designed to improve information accessibility, consistency, and decision support without replacing professional clinical judgment.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1" y="188780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3200" b="1">
                <a:latin typeface="Times New Roman"/>
              </a:rPr>
              <a:t>Problem 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47E65F-A722-8232-E70C-F1EEB73CF4B1}"/>
              </a:ext>
            </a:extLst>
          </p:cNvPr>
          <p:cNvSpPr txBox="1"/>
          <p:nvPr/>
        </p:nvSpPr>
        <p:spPr>
          <a:xfrm>
            <a:off x="581606" y="2360646"/>
            <a:ext cx="1102878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600">
                <a:latin typeface="Times New Roman"/>
              </a:defRPr>
            </a:pPr>
            <a:r>
              <a:t>Healthcare professionals must review diverse and continuously changing clinical information before making decisions. Manual review of patient histories, test results, guidelines, and medical literature can be time-consuming and may increase the risk of missing relevant information.</a:t>
            </a:r>
          </a:p>
          <a:p>
            <a:pPr>
              <a:defRPr sz="1600">
                <a:latin typeface="Times New Roman"/>
              </a:defRPr>
            </a:pPr>
          </a:p>
          <a:p>
            <a:pPr>
              <a:defRPr sz="1600">
                <a:latin typeface="Times New Roman"/>
              </a:defRPr>
            </a:pPr>
            <a:r>
              <a:t>Traditional clinical decision support tools are often rule-based and may struggle with unstructured clinical text or complex patient contexts. General-purpose AI systems can also produce unsupported or misleading medical statements when they are not grounded in trusted clinical knowledge.</a:t>
            </a:r>
          </a:p>
          <a:p>
            <a:pPr>
              <a:defRPr sz="1600">
                <a:latin typeface="Times New Roman"/>
              </a:defRPr>
            </a:pPr>
          </a:p>
          <a:p>
            <a:pPr>
              <a:defRPr sz="1600">
                <a:latin typeface="Times New Roman"/>
              </a:defRPr>
            </a:pPr>
            <a:r>
              <a:t>The proposed system addresses this challenge by using a Large Language Model with clinical knowledge retrieval and structured reasoning support to deliver relevant, explainable, and clinician-reviewed decision support.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415616" y="154134"/>
            <a:ext cx="78086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3200" b="1">
                <a:latin typeface="Times New Roman"/>
              </a:rPr>
              <a:t>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B9EB04F-FECD-A212-E715-01E5112D3C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869" y="1403676"/>
            <a:ext cx="11744131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defRPr sz="1550">
                <a:latin typeface="Times New Roman"/>
              </a:defRPr>
            </a:pPr>
            <a:r>
              <a:t>The main objectives of this project are:</a:t>
            </a:r>
          </a:p>
          <a:p>
            <a:pPr>
              <a:defRPr sz="1550">
                <a:latin typeface="Times New Roman"/>
              </a:defRPr>
            </a:pPr>
          </a:p>
          <a:p>
            <a:pPr>
              <a:defRPr sz="1550">
                <a:latin typeface="Times New Roman"/>
              </a:defRPr>
            </a:pPr>
            <a:r>
              <a:t>• To develop an LLM-based Clinical Decision Support System for healthcare professionals.</a:t>
            </a:r>
          </a:p>
          <a:p>
            <a:pPr>
              <a:defRPr sz="1550">
                <a:latin typeface="Times New Roman"/>
              </a:defRPr>
            </a:pPr>
            <a:r>
              <a:t>• To process patient information and clinical notes using natural language understanding.</a:t>
            </a:r>
          </a:p>
          <a:p>
            <a:pPr>
              <a:defRPr sz="1550">
                <a:latin typeface="Times New Roman"/>
              </a:defRPr>
            </a:pPr>
            <a:r>
              <a:t>• To retrieve relevant clinical guidelines, evidence, and knowledge before generating suggestions.</a:t>
            </a:r>
          </a:p>
          <a:p>
            <a:pPr>
              <a:defRPr sz="1550">
                <a:latin typeface="Times New Roman"/>
              </a:defRPr>
            </a:pPr>
            <a:r>
              <a:t>• To generate concise, context-aware summaries and decision support recommendations.</a:t>
            </a:r>
          </a:p>
          <a:p>
            <a:pPr>
              <a:defRPr sz="1550">
                <a:latin typeface="Times New Roman"/>
              </a:defRPr>
            </a:pPr>
            <a:r>
              <a:t>• To provide explanations and supporting evidence for model-generated suggestions.</a:t>
            </a:r>
          </a:p>
          <a:p>
            <a:pPr>
              <a:defRPr sz="1550">
                <a:latin typeface="Times New Roman"/>
              </a:defRPr>
            </a:pPr>
            <a:r>
              <a:t>• To identify potential risks, missing information, and clinically relevant warning signals.</a:t>
            </a:r>
          </a:p>
          <a:p>
            <a:pPr>
              <a:defRPr sz="1550">
                <a:latin typeface="Times New Roman"/>
              </a:defRPr>
            </a:pPr>
            <a:r>
              <a:t>• To maintain a clinician-in-the-loop workflow so that final decisions remain with qualified professionals.</a:t>
            </a:r>
          </a:p>
          <a:p>
            <a:pPr>
              <a:defRPr sz="1550">
                <a:latin typeface="Times New Roman"/>
              </a:defRPr>
            </a:pPr>
            <a:r>
              <a:t>• To design a simple, responsive, and user-friendly clinical interface.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3200" b="1">
                <a:latin typeface="Times New Roman"/>
              </a:rPr>
              <a:t>Literature Survey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E5B9AAD-FC66-46ED-B0D8-5BFB371C7B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0299938"/>
              </p:ext>
            </p:extLst>
          </p:nvPr>
        </p:nvGraphicFramePr>
        <p:xfrm>
          <a:off x="1097900" y="1431299"/>
          <a:ext cx="9660296" cy="49660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5074">
                  <a:extLst>
                    <a:ext uri="{9D8B030D-6E8A-4147-A177-3AD203B41FA5}">
                      <a16:colId xmlns:a16="http://schemas.microsoft.com/office/drawing/2014/main" val="3740014946"/>
                    </a:ext>
                  </a:extLst>
                </a:gridCol>
                <a:gridCol w="2415074">
                  <a:extLst>
                    <a:ext uri="{9D8B030D-6E8A-4147-A177-3AD203B41FA5}">
                      <a16:colId xmlns:a16="http://schemas.microsoft.com/office/drawing/2014/main" val="2527634954"/>
                    </a:ext>
                  </a:extLst>
                </a:gridCol>
                <a:gridCol w="2415074">
                  <a:extLst>
                    <a:ext uri="{9D8B030D-6E8A-4147-A177-3AD203B41FA5}">
                      <a16:colId xmlns:a16="http://schemas.microsoft.com/office/drawing/2014/main" val="3740456712"/>
                    </a:ext>
                  </a:extLst>
                </a:gridCol>
                <a:gridCol w="2415074">
                  <a:extLst>
                    <a:ext uri="{9D8B030D-6E8A-4147-A177-3AD203B41FA5}">
                      <a16:colId xmlns:a16="http://schemas.microsoft.com/office/drawing/2014/main" val="1994384583"/>
                    </a:ext>
                  </a:extLst>
                </a:gridCol>
              </a:tblGrid>
              <a:tr h="557018">
                <a:tc>
                  <a:txBody>
                    <a:bodyPr wrap="square"/>
                    <a:lstStyle/>
                    <a:p>
                      <a:r>
                        <a:rPr sz="1050" b="1">
                          <a:latin typeface="Times New Roman"/>
                        </a:rPr>
                        <a:t>Research Paper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latin typeface="Times New Roman"/>
                        </a:rPr>
                        <a:t>Techniques Used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latin typeface="Times New Roman"/>
                        </a:rPr>
                        <a:t>Purpose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latin typeface="Times New Roman"/>
                        </a:rPr>
                        <a:t>Limitation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2742706448"/>
                  </a:ext>
                </a:extLst>
              </a:tr>
              <a:tr h="819957">
                <a:tc>
                  <a:txBody>
                    <a:bodyPr wrap="square"/>
                    <a:lstStyle/>
                    <a:p>
                      <a:r>
                        <a:rPr sz="1019" b="0">
                          <a:latin typeface="Times New Roman"/>
                        </a:rPr>
                        <a:t>ClinicalBERT: Modeling Clinical Notes and Predicting Hospital Readmission (2019)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latin typeface="Times New Roman"/>
                        </a:rPr>
                        <a:t>BERT, Clinical NLP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latin typeface="Times New Roman"/>
                        </a:rPr>
                        <a:t>Learns representations from clinical notes for downstream healthcare tasks.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latin typeface="Times New Roman"/>
                        </a:rPr>
                        <a:t>Focused on specific prediction tasks rather than interactive decision support.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2377232246"/>
                  </a:ext>
                </a:extLst>
              </a:tr>
              <a:tr h="819957">
                <a:tc>
                  <a:txBody>
                    <a:bodyPr wrap="square"/>
                    <a:lstStyle/>
                    <a:p>
                      <a:r>
                        <a:rPr sz="1019" b="0">
                          <a:latin typeface="Times New Roman"/>
                        </a:rPr>
                        <a:t>GatorTron: A Large Clinical Language Model (2022)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latin typeface="Times New Roman"/>
                        </a:rPr>
                        <a:t>Large Transformer, Clinical Text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latin typeface="Times New Roman"/>
                        </a:rPr>
                        <a:t>Learns clinical language representations from large-scale healthcare text.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latin typeface="Times New Roman"/>
                        </a:rPr>
                        <a:t>Large training and deployment requirements.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201220958"/>
                  </a:ext>
                </a:extLst>
              </a:tr>
              <a:tr h="819957">
                <a:tc>
                  <a:txBody>
                    <a:bodyPr wrap="square"/>
                    <a:lstStyle/>
                    <a:p>
                      <a:r>
                        <a:rPr sz="1019" b="0">
                          <a:latin typeface="Times New Roman"/>
                        </a:rPr>
                        <a:t>Large Language Models Encode Clinical Knowledge (2023)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latin typeface="Times New Roman"/>
                        </a:rPr>
                        <a:t>LLMs, Medical QA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latin typeface="Times New Roman"/>
                        </a:rPr>
                        <a:t>Investigates how language models can capture medical and clinical knowledge.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latin typeface="Times New Roman"/>
                        </a:rPr>
                        <a:t>General knowledge does not guarantee patient-specific or evidence-grounded decisions.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1815655940"/>
                  </a:ext>
                </a:extLst>
              </a:tr>
              <a:tr h="819957">
                <a:tc>
                  <a:txBody>
                    <a:bodyPr wrap="square"/>
                    <a:lstStyle/>
                    <a:p>
                      <a:r>
                        <a:rPr sz="1019" b="0">
                          <a:latin typeface="Times New Roman"/>
                        </a:rPr>
                        <a:t>Towards Generalist Biomedical AI (2023)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latin typeface="Times New Roman"/>
                        </a:rPr>
                        <a:t>Multimodal / Foundation Models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latin typeface="Times New Roman"/>
                        </a:rPr>
                        <a:t>Explores general-purpose AI for biomedical and clinical applications.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latin typeface="Times New Roman"/>
                        </a:rPr>
                        <a:t>Complexity and safety considerations limit direct clinical deployment.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3042119653"/>
                  </a:ext>
                </a:extLst>
              </a:tr>
              <a:tr h="557018">
                <a:tc>
                  <a:txBody>
                    <a:bodyPr wrap="square"/>
                    <a:lstStyle/>
                    <a:p>
                      <a:r>
                        <a:rPr sz="1019" b="0">
                          <a:latin typeface="Times New Roman"/>
                        </a:rPr>
                        <a:t>LLM-Based Clinical Decision Support (Recent Research)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latin typeface="Times New Roman"/>
                        </a:rPr>
                        <a:t>LLM, RAG, Clinical Knowledge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latin typeface="Times New Roman"/>
                        </a:rPr>
                        <a:t>Uses language models with retrieval and structured context for clinical assistance.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latin typeface="Times New Roman"/>
                        </a:rPr>
                        <a:t>Requires reliable evidence retrieval, validation, privacy, and clinician oversight.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384742924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99C727E-6180-1A74-BD5B-383FB865FC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5356176"/>
              </p:ext>
            </p:extLst>
          </p:nvPr>
        </p:nvGraphicFramePr>
        <p:xfrm>
          <a:off x="1097900" y="1060459"/>
          <a:ext cx="966029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60295">
                  <a:extLst>
                    <a:ext uri="{9D8B030D-6E8A-4147-A177-3AD203B41FA5}">
                      <a16:colId xmlns:a16="http://schemas.microsoft.com/office/drawing/2014/main" val="21230668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826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40E8EB32-DFB9-70B5-2C1A-00074CFA6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472" y="3017534"/>
            <a:ext cx="1036334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EB7DA5-C0A9-6F74-966A-208A7A1C1A93}"/>
              </a:ext>
            </a:extLst>
          </p:cNvPr>
          <p:cNvSpPr txBox="1"/>
          <p:nvPr/>
        </p:nvSpPr>
        <p:spPr>
          <a:xfrm>
            <a:off x="541173" y="1056907"/>
            <a:ext cx="6634067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550" b="1">
                <a:latin typeface="Times New Roman"/>
              </a:defRPr>
            </a:pPr>
            <a:r>
              <a:t>Research Gap Identification</a:t>
            </a:r>
          </a:p>
          <a:p>
            <a:pPr>
              <a:defRPr sz="1550">
                <a:latin typeface="Times New Roman"/>
              </a:defRPr>
            </a:pPr>
          </a:p>
          <a:p>
            <a:pPr>
              <a:defRPr sz="1550">
                <a:latin typeface="Times New Roman"/>
              </a:defRPr>
            </a:pPr>
            <a:r>
              <a:t>• Many clinical AI models focus on a single prediction or classification task.</a:t>
            </a:r>
          </a:p>
          <a:p>
            <a:pPr>
              <a:defRPr sz="1550">
                <a:latin typeface="Times New Roman"/>
              </a:defRPr>
            </a:pPr>
            <a:r>
              <a:t>• General-purpose LLMs may generate plausible but unsupported clinical statements.</a:t>
            </a:r>
          </a:p>
          <a:p>
            <a:pPr>
              <a:defRPr sz="1550">
                <a:latin typeface="Times New Roman"/>
              </a:defRPr>
            </a:pPr>
            <a:r>
              <a:t>• Patient-specific context is not always combined with current clinical evidence.</a:t>
            </a:r>
          </a:p>
          <a:p>
            <a:pPr>
              <a:defRPr sz="1550">
                <a:latin typeface="Times New Roman"/>
              </a:defRPr>
            </a:pPr>
            <a:r>
              <a:t>• Several systems provide limited explanations for their recommendations.</a:t>
            </a:r>
          </a:p>
          <a:p>
            <a:pPr>
              <a:defRPr sz="1550">
                <a:latin typeface="Times New Roman"/>
              </a:defRPr>
            </a:pPr>
            <a:r>
              <a:t>• Privacy, safety, uncertainty, and clinician oversight are essential for practical adoption.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44C301-2406-4BDF-09A1-8EA3C1CEC91B}"/>
              </a:ext>
            </a:extLst>
          </p:cNvPr>
          <p:cNvSpPr txBox="1"/>
          <p:nvPr/>
        </p:nvSpPr>
        <p:spPr>
          <a:xfrm>
            <a:off x="601821" y="3776484"/>
            <a:ext cx="651276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 sz="1550" b="1">
                <a:latin typeface="Times New Roman"/>
              </a:defRPr>
            </a:pPr>
            <a:r>
              <a:t>Innovation</a:t>
            </a:r>
          </a:p>
          <a:p>
            <a:pPr>
              <a:defRPr sz="1550">
                <a:latin typeface="Times New Roman"/>
              </a:defRPr>
            </a:pPr>
          </a:p>
          <a:p>
            <a:pPr>
              <a:defRPr sz="1550">
                <a:latin typeface="Times New Roman"/>
              </a:defRPr>
            </a:pPr>
            <a:r>
              <a:t>The proposed system introduces:</a:t>
            </a:r>
          </a:p>
          <a:p>
            <a:pPr>
              <a:defRPr sz="1550">
                <a:latin typeface="Times New Roman"/>
              </a:defRPr>
            </a:pPr>
          </a:p>
          <a:p>
            <a:pPr>
              <a:defRPr sz="1550">
                <a:latin typeface="Times New Roman"/>
              </a:defRPr>
            </a:pPr>
            <a:r>
              <a:t>• LLM-based clinical reasoning support over structured and unstructured patient information.</a:t>
            </a:r>
          </a:p>
          <a:p>
            <a:pPr>
              <a:defRPr sz="1550">
                <a:latin typeface="Times New Roman"/>
              </a:defRPr>
            </a:pPr>
            <a:r>
              <a:t>• Retrieval-Augmented Generation (RAG) to ground responses in trusted clinical knowledge.</a:t>
            </a:r>
          </a:p>
          <a:p>
            <a:pPr>
              <a:defRPr sz="1550">
                <a:latin typeface="Times New Roman"/>
              </a:defRPr>
            </a:pPr>
            <a:r>
              <a:t>• Evidence-linked recommendations with transparent supporting context.</a:t>
            </a:r>
          </a:p>
          <a:p>
            <a:pPr>
              <a:defRPr sz="1550">
                <a:latin typeface="Times New Roman"/>
              </a:defRPr>
            </a:pPr>
            <a:r>
              <a:t>• Risk and uncertainty indicators to highlight cases requiring closer review.</a:t>
            </a:r>
          </a:p>
          <a:p>
            <a:pPr>
              <a:defRPr sz="1550">
                <a:latin typeface="Times New Roman"/>
              </a:defRPr>
            </a:pPr>
            <a:r>
              <a:t>• Clinician-in-the-loop approval before any recommendation is acted upon.</a:t>
            </a:r>
          </a:p>
          <a:p>
            <a:pPr>
              <a:defRPr sz="1550">
                <a:latin typeface="Times New Roman"/>
              </a:defRPr>
            </a:pPr>
            <a:r>
              <a:t>• A practical web-based interface for summaries, alerts, and decision support.</a:t>
            </a:r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FF3910A-D3E5-22FF-9AC2-A77556426F36}"/>
              </a:ext>
            </a:extLst>
          </p:cNvPr>
          <p:cNvSpPr txBox="1"/>
          <p:nvPr/>
        </p:nvSpPr>
        <p:spPr>
          <a:xfrm>
            <a:off x="641480" y="1450253"/>
            <a:ext cx="7177573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 sz="1600" b="1">
                <a:latin typeface="Times New Roman"/>
              </a:defRPr>
            </a:pPr>
            <a:r>
              <a:t>Creativity</a:t>
            </a:r>
          </a:p>
          <a:p>
            <a:pPr>
              <a:defRPr sz="1600">
                <a:latin typeface="Times New Roman"/>
              </a:defRPr>
            </a:pPr>
            <a:r>
              <a:t>The project combines modern generative AI with a practical clinical workflow.</a:t>
            </a:r>
          </a:p>
          <a:p>
            <a:pPr>
              <a:defRPr sz="1600">
                <a:latin typeface="Times New Roman"/>
              </a:defRPr>
            </a:pPr>
          </a:p>
          <a:p>
            <a:pPr>
              <a:defRPr sz="1600">
                <a:latin typeface="Times New Roman"/>
              </a:defRPr>
            </a:pPr>
            <a:r>
              <a:t>Key creative features include:</a:t>
            </a:r>
          </a:p>
          <a:p>
            <a:pPr>
              <a:defRPr sz="1600">
                <a:latin typeface="Times New Roman"/>
              </a:defRPr>
            </a:pPr>
          </a:p>
          <a:p>
            <a:pPr>
              <a:defRPr sz="1600">
                <a:latin typeface="Times New Roman"/>
              </a:defRPr>
            </a:pPr>
            <a:r>
              <a:t>• AI-assisted patient case summarization.</a:t>
            </a:r>
          </a:p>
          <a:p>
            <a:pPr>
              <a:defRPr sz="1600">
                <a:latin typeface="Times New Roman"/>
              </a:defRPr>
            </a:pPr>
            <a:r>
              <a:t>• Natural-language interaction for clinical queries.</a:t>
            </a:r>
          </a:p>
          <a:p>
            <a:pPr>
              <a:defRPr sz="1600">
                <a:latin typeface="Times New Roman"/>
              </a:defRPr>
            </a:pPr>
            <a:r>
              <a:t>• Evidence retrieval alongside every major recommendation.</a:t>
            </a:r>
          </a:p>
          <a:p>
            <a:pPr>
              <a:defRPr sz="1600">
                <a:latin typeface="Times New Roman"/>
              </a:defRPr>
            </a:pPr>
            <a:r>
              <a:t>• Explainable suggestions showing relevant clinical factors.</a:t>
            </a:r>
          </a:p>
          <a:p>
            <a:pPr>
              <a:defRPr sz="1600">
                <a:latin typeface="Times New Roman"/>
              </a:defRPr>
            </a:pPr>
            <a:r>
              <a:t>• Risk flags for potentially critical findings.</a:t>
            </a:r>
          </a:p>
          <a:p>
            <a:pPr>
              <a:defRPr sz="1600">
                <a:latin typeface="Times New Roman"/>
              </a:defRPr>
            </a:pPr>
            <a:r>
              <a:t>• Suggested follow-up questions and missing-data prompts.</a:t>
            </a:r>
          </a:p>
          <a:p>
            <a:pPr>
              <a:defRPr sz="1600">
                <a:latin typeface="Times New Roman"/>
              </a:defRPr>
            </a:pPr>
            <a:r>
              <a:t>• Clinician review and feedback before final action.</a:t>
            </a:r>
          </a:p>
          <a:p>
            <a:pPr>
              <a:defRPr sz="1600">
                <a:latin typeface="Times New Roman"/>
              </a:defRPr>
            </a:pPr>
            <a:r>
              <a:t>• Clean dashboard for patient context, recommendations, and evidence.</a:t>
            </a: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4F00390-288F-1C85-A34B-30E7BA4BC94D}"/>
              </a:ext>
            </a:extLst>
          </p:cNvPr>
          <p:cNvSpPr txBox="1"/>
          <p:nvPr/>
        </p:nvSpPr>
        <p:spPr>
          <a:xfrm>
            <a:off x="417545" y="1290172"/>
            <a:ext cx="7093598" cy="3741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  <a:defRPr sz="1600" b="1">
                <a:latin typeface="Times New Roman"/>
              </a:defRPr>
            </a:pPr>
            <a:r>
              <a:t>Novelty</a:t>
            </a:r>
          </a:p>
          <a:p>
            <a:pPr>
              <a:defRPr sz="1600">
                <a:latin typeface="Times New Roman"/>
              </a:defRPr>
            </a:pPr>
            <a:r>
              <a:t>The uniqueness of this project lies in integrating:</a:t>
            </a:r>
          </a:p>
          <a:p>
            <a:pPr>
              <a:defRPr sz="1600">
                <a:latin typeface="Times New Roman"/>
              </a:defRPr>
            </a:pPr>
          </a:p>
          <a:p>
            <a:pPr>
              <a:defRPr sz="1600">
                <a:latin typeface="Times New Roman"/>
              </a:defRPr>
            </a:pPr>
            <a:r>
              <a:t>• Large Language Models for natural-language clinical decision support.</a:t>
            </a:r>
          </a:p>
          <a:p>
            <a:pPr>
              <a:defRPr sz="1600">
                <a:latin typeface="Times New Roman"/>
              </a:defRPr>
            </a:pPr>
            <a:r>
              <a:t>• Retrieval-Augmented Generation for evidence-grounded responses.</a:t>
            </a:r>
          </a:p>
          <a:p>
            <a:pPr>
              <a:defRPr sz="1600">
                <a:latin typeface="Times New Roman"/>
              </a:defRPr>
            </a:pPr>
            <a:r>
              <a:t>• Patient-context understanding across clinical notes and structured data.</a:t>
            </a:r>
          </a:p>
          <a:p>
            <a:pPr>
              <a:defRPr sz="1600">
                <a:latin typeface="Times New Roman"/>
              </a:defRPr>
            </a:pPr>
            <a:r>
              <a:t>• Explainable recommendations with supporting evidence.</a:t>
            </a:r>
          </a:p>
          <a:p>
            <a:pPr>
              <a:defRPr sz="1600">
                <a:latin typeface="Times New Roman"/>
              </a:defRPr>
            </a:pPr>
            <a:r>
              <a:t>• Risk-aware outputs that communicate uncertainty and possible warning signals.</a:t>
            </a:r>
          </a:p>
          <a:p>
            <a:pPr>
              <a:defRPr sz="1600">
                <a:latin typeface="Times New Roman"/>
              </a:defRPr>
            </a:pPr>
            <a:r>
              <a:t>• A clinician-in-the-loop workflow rather than autonomous medical decision-making.</a:t>
            </a:r>
          </a:p>
          <a:p>
            <a:pPr>
              <a:defRPr sz="1600">
                <a:latin typeface="Times New Roman"/>
              </a:defRPr>
            </a:pPr>
            <a:r>
              <a:t>• A complete web-based clinical assistant instead of a standalone research model.</a:t>
            </a:r>
          </a:p>
          <a:p>
            <a:pPr>
              <a:defRPr sz="1600">
                <a:latin typeface="Times New Roman"/>
              </a:defRPr>
            </a:pPr>
          </a:p>
          <a:p>
            <a:pPr>
              <a:defRPr sz="1600">
                <a:latin typeface="Times New Roman"/>
              </a:defRPr>
            </a:pPr>
            <a:r>
              <a:t>This combination aims to improve accessibility, transparency, consistency, and safety of AI-assisted clinical decision support.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9010E39-C34F-2D90-E757-2B5373BF5544}"/>
              </a:ext>
            </a:extLst>
          </p:cNvPr>
          <p:cNvSpPr txBox="1"/>
          <p:nvPr/>
        </p:nvSpPr>
        <p:spPr>
          <a:xfrm>
            <a:off x="856083" y="977310"/>
            <a:ext cx="6664390" cy="5218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  <a:defRPr sz="1520" b="1">
                <a:latin typeface="Times New Roman"/>
              </a:defRPr>
            </a:pPr>
            <a:r>
              <a:t>Feasibility</a:t>
            </a:r>
          </a:p>
          <a:p>
            <a:pPr>
              <a:defRPr sz="1520">
                <a:latin typeface="Times New Roman"/>
              </a:defRPr>
            </a:pPr>
            <a:r>
              <a:t>The project is feasible because:</a:t>
            </a:r>
          </a:p>
          <a:p>
            <a:pPr>
              <a:defRPr sz="1520">
                <a:latin typeface="Times New Roman"/>
              </a:defRPr>
            </a:pPr>
          </a:p>
          <a:p>
            <a:pPr>
              <a:defRPr sz="1520">
                <a:latin typeface="Times New Roman"/>
              </a:defRPr>
            </a:pPr>
            <a:r>
              <a:t>Technical Feasibility</a:t>
            </a:r>
          </a:p>
          <a:p>
            <a:pPr>
              <a:defRPr sz="1520">
                <a:latin typeface="Times New Roman"/>
              </a:defRPr>
            </a:pPr>
            <a:r>
              <a:t>Uses established technologies such as Python, web frameworks, LLM APIs/open models, vector databases, NLP libraries, and standard database systems. The architecture can be implemented as modular services.</a:t>
            </a:r>
          </a:p>
          <a:p>
            <a:pPr>
              <a:defRPr sz="1520">
                <a:latin typeface="Times New Roman"/>
              </a:defRPr>
            </a:pPr>
          </a:p>
          <a:p>
            <a:pPr>
              <a:defRPr sz="1520">
                <a:latin typeface="Times New Roman"/>
              </a:defRPr>
            </a:pPr>
            <a:r>
              <a:t>Economic Feasibility</a:t>
            </a:r>
          </a:p>
          <a:p>
            <a:pPr>
              <a:defRPr sz="1520">
                <a:latin typeface="Times New Roman"/>
              </a:defRPr>
            </a:pPr>
            <a:r>
              <a:t>A prototype can be developed using open-source libraries and free or low-cost development resources. Cloud usage can be limited during experimentation.</a:t>
            </a:r>
          </a:p>
          <a:p>
            <a:pPr>
              <a:defRPr sz="1520">
                <a:latin typeface="Times New Roman"/>
              </a:defRPr>
            </a:pPr>
          </a:p>
          <a:p>
            <a:pPr>
              <a:defRPr sz="1520">
                <a:latin typeface="Times New Roman"/>
              </a:defRPr>
            </a:pPr>
            <a:r>
              <a:t>Operational Feasibility</a:t>
            </a:r>
          </a:p>
          <a:p>
            <a:pPr>
              <a:defRPr sz="1520">
                <a:latin typeface="Times New Roman"/>
              </a:defRPr>
            </a:pPr>
            <a:r>
              <a:t>The system can be accessed through a simple clinical dashboard and designed around existing information review workflows.</a:t>
            </a:r>
          </a:p>
          <a:p>
            <a:pPr>
              <a:defRPr sz="1520">
                <a:latin typeface="Times New Roman"/>
              </a:defRPr>
            </a:pPr>
          </a:p>
          <a:p>
            <a:pPr>
              <a:defRPr sz="1520">
                <a:latin typeface="Times New Roman"/>
              </a:defRPr>
            </a:pPr>
            <a:r>
              <a:t>Safety &amp; Compliance Feasibility</a:t>
            </a:r>
          </a:p>
          <a:p>
            <a:pPr>
              <a:defRPr sz="1520">
                <a:latin typeface="Times New Roman"/>
              </a:defRPr>
            </a:pPr>
            <a:r>
              <a:t>The prototype can use de-identified or synthetic data, provide evidence and uncertainty indicators, and require clinician review before recommendations are acted upon.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508311" y="202918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latin typeface="Times New Roman"/>
              </a:rPr>
              <a:t>flowchart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994349" y="1453598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400" b="1">
                <a:latin typeface="Times New Roman"/>
              </a:rPr>
              <a:t>Flow Chart</a:t>
            </a:r>
          </a:p>
        </p:txBody>
      </p:sp>
      <p:pic>
        <p:nvPicPr>
          <p:cNvPr id="4" name="Picture 3" descr="clinical_cdss_flow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1296" y="804672"/>
            <a:ext cx="4873752" cy="57058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D8EC9D9-414E-5FB9-B24A-8B7685354E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0351859"/>
              </p:ext>
            </p:extLst>
          </p:nvPr>
        </p:nvGraphicFramePr>
        <p:xfrm>
          <a:off x="1754156" y="1137031"/>
          <a:ext cx="8192277" cy="50946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30759">
                  <a:extLst>
                    <a:ext uri="{9D8B030D-6E8A-4147-A177-3AD203B41FA5}">
                      <a16:colId xmlns:a16="http://schemas.microsoft.com/office/drawing/2014/main" val="3927649832"/>
                    </a:ext>
                  </a:extLst>
                </a:gridCol>
                <a:gridCol w="2730759">
                  <a:extLst>
                    <a:ext uri="{9D8B030D-6E8A-4147-A177-3AD203B41FA5}">
                      <a16:colId xmlns:a16="http://schemas.microsoft.com/office/drawing/2014/main" val="1600445934"/>
                    </a:ext>
                  </a:extLst>
                </a:gridCol>
                <a:gridCol w="2730759">
                  <a:extLst>
                    <a:ext uri="{9D8B030D-6E8A-4147-A177-3AD203B41FA5}">
                      <a16:colId xmlns:a16="http://schemas.microsoft.com/office/drawing/2014/main" val="3421306975"/>
                    </a:ext>
                  </a:extLst>
                </a:gridCol>
              </a:tblGrid>
              <a:tr h="169524">
                <a:tc>
                  <a:txBody>
                    <a:bodyPr wrap="square"/>
                    <a:lstStyle/>
                    <a:p/>
                  </a:txBody>
                  <a:tcPr marL="40290" marR="40290" marT="20145" marB="20145" anchor="ctr"/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latin typeface="Times New Roman"/>
                        </a:rPr>
                        <a:t>Activity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latin typeface="Times New Roman"/>
                        </a:rPr>
                        <a:t>Description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1441200723"/>
                  </a:ext>
                </a:extLst>
              </a:tr>
              <a:tr h="296941">
                <a:tc>
                  <a:txBody>
                    <a:bodyPr wrap="square"/>
                    <a:lstStyle/>
                    <a:p>
                      <a:r>
                        <a:rPr sz="930" b="0">
                          <a:latin typeface="Times New Roman"/>
                        </a:rPr>
                        <a:t>Phase 1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latin typeface="Times New Roman"/>
                        </a:rPr>
                        <a:t>Requirement Analysis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latin typeface="Times New Roman"/>
                        </a:rPr>
                        <a:t>Define clinical workflow, objectives, scope, users, and safety requirements.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1430911486"/>
                  </a:ext>
                </a:extLst>
              </a:tr>
              <a:tr h="424359">
                <a:tc>
                  <a:txBody>
                    <a:bodyPr wrap="square"/>
                    <a:lstStyle/>
                    <a:p>
                      <a:r>
                        <a:rPr sz="930" b="0">
                          <a:latin typeface="Times New Roman"/>
                        </a:rPr>
                        <a:t>Phase 2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latin typeface="Times New Roman"/>
                        </a:rPr>
                        <a:t>Literature Survey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latin typeface="Times New Roman"/>
                        </a:rPr>
                        <a:t>Study LLMs, clinical NLP, RAG, and existing clinical decision support systems.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2004652080"/>
                  </a:ext>
                </a:extLst>
              </a:tr>
              <a:tr h="424359">
                <a:tc>
                  <a:txBody>
                    <a:bodyPr wrap="square"/>
                    <a:lstStyle/>
                    <a:p>
                      <a:r>
                        <a:rPr sz="930" b="0">
                          <a:latin typeface="Times New Roman"/>
                        </a:rPr>
                        <a:t>Phase 3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latin typeface="Times New Roman"/>
                        </a:rPr>
                        <a:t>Data Preparation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latin typeface="Times New Roman"/>
                        </a:rPr>
                        <a:t>Prepare de-identified or synthetic patient cases and trusted clinical knowledge sources.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916929128"/>
                  </a:ext>
                </a:extLst>
              </a:tr>
              <a:tr h="296941">
                <a:tc>
                  <a:txBody>
                    <a:bodyPr wrap="square"/>
                    <a:lstStyle/>
                    <a:p>
                      <a:r>
                        <a:rPr sz="930" b="0">
                          <a:latin typeface="Times New Roman"/>
                        </a:rPr>
                        <a:t>Phase 4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latin typeface="Times New Roman"/>
                        </a:rPr>
                        <a:t>Clinical Text Processing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latin typeface="Times New Roman"/>
                        </a:rPr>
                        <a:t>Clean, structure, and normalize patient notes and relevant clinical information.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3051988304"/>
                  </a:ext>
                </a:extLst>
              </a:tr>
              <a:tr h="296941">
                <a:tc>
                  <a:txBody>
                    <a:bodyPr wrap="square"/>
                    <a:lstStyle/>
                    <a:p>
                      <a:r>
                        <a:rPr sz="930" b="0">
                          <a:latin typeface="Times New Roman"/>
                        </a:rPr>
                        <a:t>Phase 5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latin typeface="Times New Roman"/>
                        </a:rPr>
                        <a:t>Knowledge Retrieval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latin typeface="Times New Roman"/>
                        </a:rPr>
                        <a:t>Create embeddings and a vector index for retrieving relevant clinical evidence.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16028098"/>
                  </a:ext>
                </a:extLst>
              </a:tr>
              <a:tr h="424359">
                <a:tc>
                  <a:txBody>
                    <a:bodyPr wrap="square"/>
                    <a:lstStyle/>
                    <a:p>
                      <a:r>
                        <a:rPr sz="930" b="0">
                          <a:latin typeface="Times New Roman"/>
                        </a:rPr>
                        <a:t>Phase 6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latin typeface="Times New Roman"/>
                        </a:rPr>
                        <a:t>LLM Integration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latin typeface="Times New Roman"/>
                        </a:rPr>
                        <a:t>Connect the language model with patient context, retrieved evidence, and safety prompts.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1017510529"/>
                  </a:ext>
                </a:extLst>
              </a:tr>
              <a:tr h="551776">
                <a:tc>
                  <a:txBody>
                    <a:bodyPr wrap="square"/>
                    <a:lstStyle/>
                    <a:p>
                      <a:r>
                        <a:rPr sz="930" b="0">
                          <a:latin typeface="Times New Roman"/>
                        </a:rPr>
                        <a:t>Phase 7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latin typeface="Times New Roman"/>
                        </a:rPr>
                        <a:t>CDSS Workflow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latin typeface="Times New Roman"/>
                        </a:rPr>
                        <a:t>Implement risk flags, summaries, recommendations, explanations, and clinician review.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29742730"/>
                  </a:ext>
                </a:extLst>
              </a:tr>
              <a:tr h="424359">
                <a:tc>
                  <a:txBody>
                    <a:bodyPr wrap="square"/>
                    <a:lstStyle/>
                    <a:p>
                      <a:r>
                        <a:rPr sz="930" b="0">
                          <a:latin typeface="Times New Roman"/>
                        </a:rPr>
                        <a:t>Phase 8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latin typeface="Times New Roman"/>
                        </a:rPr>
                        <a:t>Frontend Development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latin typeface="Times New Roman"/>
                        </a:rPr>
                        <a:t>Design a responsive dashboard for patient context, evidence, and decision support.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3421748785"/>
                  </a:ext>
                </a:extLst>
              </a:tr>
              <a:tr h="424359">
                <a:tc>
                  <a:txBody>
                    <a:bodyPr wrap="square"/>
                    <a:lstStyle/>
                    <a:p>
                      <a:r>
                        <a:rPr sz="930" b="0">
                          <a:latin typeface="Times New Roman"/>
                        </a:rPr>
                        <a:t>Phase 9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latin typeface="Times New Roman"/>
                        </a:rPr>
                        <a:t>Backend Development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latin typeface="Times New Roman"/>
                        </a:rPr>
                        <a:t>Develop APIs, authentication, database connectivity, and model/retrieval services.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2901433378"/>
                  </a:ext>
                </a:extLst>
              </a:tr>
              <a:tr h="424359">
                <a:tc>
                  <a:txBody>
                    <a:bodyPr wrap="square"/>
                    <a:lstStyle/>
                    <a:p>
                      <a:r>
                        <a:rPr sz="930" b="0">
                          <a:latin typeface="Times New Roman"/>
                        </a:rPr>
                        <a:t>Phase 10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latin typeface="Times New Roman"/>
                        </a:rPr>
                        <a:t>Integration &amp; Testing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latin typeface="Times New Roman"/>
                        </a:rPr>
                        <a:t>Integrate all components and test accuracy, usability, robustness, and safety.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1833811249"/>
                  </a:ext>
                </a:extLst>
              </a:tr>
              <a:tr h="424359">
                <a:tc>
                  <a:txBody>
                    <a:bodyPr wrap="square"/>
                    <a:lstStyle/>
                    <a:p>
                      <a:r>
                        <a:rPr sz="930" b="0">
                          <a:latin typeface="Times New Roman"/>
                        </a:rPr>
                        <a:t>Phase 11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latin typeface="Times New Roman"/>
                        </a:rPr>
                        <a:t>Documentation &amp; Deployment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latin typeface="Times New Roman"/>
                        </a:rPr>
                        <a:t>Prepare report, presentation, user documentation, and deploy the prototype.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1667402782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5A1846B-F9C8-A07C-1106-0616AEB934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040076"/>
              </p:ext>
            </p:extLst>
          </p:nvPr>
        </p:nvGraphicFramePr>
        <p:xfrm>
          <a:off x="1647372" y="766191"/>
          <a:ext cx="840584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1948">
                  <a:extLst>
                    <a:ext uri="{9D8B030D-6E8A-4147-A177-3AD203B41FA5}">
                      <a16:colId xmlns:a16="http://schemas.microsoft.com/office/drawing/2014/main" val="2158598273"/>
                    </a:ext>
                  </a:extLst>
                </a:gridCol>
                <a:gridCol w="2801948">
                  <a:extLst>
                    <a:ext uri="{9D8B030D-6E8A-4147-A177-3AD203B41FA5}">
                      <a16:colId xmlns:a16="http://schemas.microsoft.com/office/drawing/2014/main" val="2330343167"/>
                    </a:ext>
                  </a:extLst>
                </a:gridCol>
                <a:gridCol w="2801948">
                  <a:extLst>
                    <a:ext uri="{9D8B030D-6E8A-4147-A177-3AD203B41FA5}">
                      <a16:colId xmlns:a16="http://schemas.microsoft.com/office/drawing/2014/main" val="9670144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119974"/>
                  </a:ext>
                </a:extLst>
              </a:tr>
            </a:tbl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8FF286C-3C98-9539-0548-FB664A3F2C12}"/>
              </a:ext>
            </a:extLst>
          </p:cNvPr>
          <p:cNvSpPr/>
          <p:nvPr/>
        </p:nvSpPr>
        <p:spPr>
          <a:xfrm>
            <a:off x="3490403" y="175757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latin typeface="Times New Roman"/>
              </a:rPr>
              <a:t>Project plan</a:t>
            </a:r>
          </a:p>
        </p:txBody>
      </p:sp>
    </p:spTree>
    <p:extLst>
      <p:ext uri="{BB962C8B-B14F-4D97-AF65-F5344CB8AC3E}">
        <p14:creationId xmlns:p14="http://schemas.microsoft.com/office/powerpoint/2010/main" val="547949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latin typeface="Times New Roman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</TotalTime>
  <Words>1069</Words>
  <Application>Microsoft Office PowerPoint</Application>
  <PresentationFormat>Widescreen</PresentationFormat>
  <Paragraphs>160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    Applied Machine Learning for Text Analysis (24ALT3101)  Retrieval-Augmented Medical Question Answering Assistant  Submitted by: K.Navya-240030180 N Deepika – 2420030097 K.Bhavya-2420030181  Group Number: 1  Section: 7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Deepika N</cp:lastModifiedBy>
  <cp:revision>22</cp:revision>
  <dcterms:created xsi:type="dcterms:W3CDTF">2024-08-29T05:25:00Z</dcterms:created>
  <dcterms:modified xsi:type="dcterms:W3CDTF">2026-08-06T14:39:28Z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